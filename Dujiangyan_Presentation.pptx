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Natural Acceptance and Harmonious Coexistence: A Case Study of Dujiangyan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Mutually Fulfilling Relationships Across the Four Orders of Nature</a:t>
            </a:r>
          </a:p>
          <a:p/>
          <a:p>
            <a:r>
              <a:t>Presenter Name: arka2024</a:t>
            </a:r>
          </a:p>
          <a:p>
            <a:r>
              <a:t>Date: March 12, 2026</a:t>
            </a:r>
          </a:p>
          <a:p/>
          <a:p>
            <a:r>
              <a:t>[Insert High-Res Aerial Photo of Dujiangyan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Deconstructing Nature: The Four Orders of Coexistence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Foundation: To analyze harmonious coexistence, we must define the four interdependent orders of nature:</a:t>
            </a:r>
          </a:p>
          <a:p>
            <a:pPr>
              <a:defRPr sz="1600"/>
            </a:pPr>
            <a:r>
              <a:t>1. Material Order: Inanimate foundation (soil, water, rocks). Characterized by composition/decomposition.</a:t>
            </a:r>
          </a:p>
          <a:p>
            <a:pPr>
              <a:defRPr sz="1600"/>
            </a:pPr>
            <a:r>
              <a:t>2. Plant Order: The biosystem (forests, crops). Characterized by growth and respiration.</a:t>
            </a:r>
          </a:p>
          <a:p>
            <a:pPr>
              <a:defRPr sz="1600"/>
            </a:pPr>
            <a:r>
              <a:t>3. Animal Order: Mobile life (fish, birds). Characterized by consciousness and physical activity.</a:t>
            </a:r>
          </a:p>
          <a:p>
            <a:pPr>
              <a:defRPr sz="1600"/>
            </a:pPr>
            <a:r>
              <a:t>4. Human Order: The realizing order. Characterized by rational thought, conscious choice, and 'natural acceptance.'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Core Argument: Human fulfillment is achieved not through exploitation, but by ensuring our activities are mutually fulfilling to the other three orders.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Circular Diagram of the 4 Orders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Taming the Wild Minjiang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Context: Built in 256 BCE in the Sichuan Basin, China, by Governor Li Bing.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Problem: The steep descent of the Minjiang River caused massive spring flash floods, destroying settlements (Human Order) and crops (Plant Order), while the chaotic water/debris (Material Order) wreaked havoc.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Paradigm Shift: Instead of fighting the river with brute force (traditional dams/walls), Li Bing developed a hydraulic intervention that used the river's own energy to regulate itself.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Goal: To examine a 2,200-year-old system where mutual fulfillment is an engineered reality, transforming a disaster zone into a 'Land of Abundance.'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Topographical Map of Minjiang River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Marvels of Coexistence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Harmonizing the Material Order (The Fish Mouth): A tear-drop shaped man-made island that splits the river into an inner channel (irrigation) and outer channel (flood/sediment discharge). It uses centrifugal force to naturally flush heavy silt without blocking the river.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Harmonizing the Plant Order (The Flying Sand Weir): A spillway that uses vortex dynamics to eject excess sediment. This delivers clean water to the plains, preventing soil salinization and allowing crops to thrive.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Harmonizing the Animal Order (The Bottle-Neck Channel): An open-channel flow valve carved through the mountain. Unlike modern dams that block aquatic migration, this open system allows fish and aquatic life to move freely, preserving biodiversity.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Technical Diagram of Water Flow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Rooted in 'Following Nature' (Dao)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Philosophy of 'Wu Wei': The builders followed the Taoist principle of Dao Fa Zi Ran (Nature follows the Dao). They practiced strategic non-intervention—observing the natural flow and providing minimal, intelligent guidance.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Natural Acceptance in Practice: The engineers viewed the river as a partner, not an enemy. Technology was restricted by environmental ethics; the tool served life rather than dominating it.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'Sacred Rule' of Maintenance: Carved into the riverbed: 'Dig the bed deep, keep the dykes low.' This mandates annual dredging to help the river flow naturally, rather than building higher walls to trap it.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Historical Painting of Dredging Ritual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Synergy Over 2,000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2,200-Year Stress Test: Dujiangyan has operated continuously without failing, proving that nature is self-regulating when humans participate intelligently.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Modern Engineering vs. Ancient Wisdom:</a:t>
            </a:r>
          </a:p>
          <a:p>
            <a:pPr>
              <a:defRPr sz="1600"/>
            </a:pPr>
            <a:r>
              <a:t>- Modern Dams: Often view rivers as obstacles. They block the Material Order, starve deltas of sediment, and fragment ecosystems.</a:t>
            </a:r>
          </a:p>
          <a:p>
            <a:pPr>
              <a:defRPr sz="1600"/>
            </a:pPr>
            <a:r>
              <a:t>- Dujiangyan: Views the river as a flow. It guides the Material Order, enriches the Plant Order, and protects the corridors of the Animal Order.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Ultimate Lesson: Fulfilling human needs does not require the destruction of nature. True technological advancement listens to nature rather than conquering it.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Split-Screen: Modern Dam vs. Dujiangyan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Final Thought: Dujiangyan is a living testament that there is a provision in nature for the harmonious coexistence of all four orders. The Human Order's highest function is to understand, nurture, and participate in this larger harmony.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References:</a:t>
            </a:r>
          </a:p>
          <a:p>
            <a:pPr>
              <a:defRPr sz="1600"/>
            </a:pPr>
            <a:r>
              <a:t>- Huang, B., et al. (2024). Governing human-nature harmony in protected area communities. Bulletin of Chinese Academy of Sciences.</a:t>
            </a:r>
          </a:p>
          <a:p>
            <a:pPr>
              <a:defRPr sz="1600"/>
            </a:pPr>
            <a:r>
              <a:t>- e-Adhyayan. (n.d.). Module on Concord in Nature: Understanding the Four Orders.</a:t>
            </a:r>
          </a:p>
          <a:p>
            <a:pPr>
              <a:defRPr sz="1600"/>
            </a:pPr>
            <a:r>
              <a:t>- Springer. (2019). Synergetic Evolution of Social and Natural Systems.</a:t>
            </a:r>
          </a:p>
          <a:p>
            <a:pPr>
              <a:defRPr sz="1600"/>
            </a:pPr>
            <a:r>
              <a:t>- Fu, H. (2020). The Innovative Road to Urban Nature Conservation.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[Insert Sunset View of Dujiangyan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